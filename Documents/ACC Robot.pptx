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1234440"/>
            <a:ext cx="4389120" cy="4389120"/>
          </a:xfrm>
          <a:prstGeom prst="ellipse">
            <a:avLst/>
          </a:prstGeom>
          <a:ln w="19050">
            <a:solidFill>
              <a:srgbClr val="1C31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53735" y="182880"/>
            <a:ext cx="6492240" cy="6492240"/>
          </a:xfrm>
          <a:prstGeom prst="ellipse">
            <a:avLst/>
          </a:prstGeom>
          <a:ln w="19050">
            <a:solidFill>
              <a:srgbClr val="1C31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02175" y="-868680"/>
            <a:ext cx="8595360" cy="8595360"/>
          </a:xfrm>
          <a:prstGeom prst="ellipse">
            <a:avLst/>
          </a:prstGeom>
          <a:ln w="19050">
            <a:solidFill>
              <a:srgbClr val="1C31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50615" y="-1920240"/>
            <a:ext cx="10698480" cy="10698480"/>
          </a:xfrm>
          <a:prstGeom prst="ellipse">
            <a:avLst/>
          </a:prstGeom>
          <a:ln w="19050">
            <a:solidFill>
              <a:srgbClr val="1C31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C315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6060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CRUISE CONTROL ROBOT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 Guide for a Sensor-Driven, PID-Controlled Follower Robot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 ·   HC-SR04   ·   MPU6050   ·   L298N   ·   PID Control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Adaptive Cruise Control?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cruise control holds a constant speed.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intelligently adjusts speed to maintain a safe, pre-defined distance from the vehicle ahead.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Real Vehicles Do 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or LiDAR on the front grille bounces waves off the lead car. Time-of-flight gives distance; if the lead car slows, the ECU commands the brakes and throttle to decelerate.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Our Robot Mimics 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plays radar, the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plays ECU, and instead of brakes it adjusts PWM to the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driver — speeding up or slowing the DC motors via a PID loop or an AI model.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143000"/>
            <a:ext cx="5257800" cy="5074920"/>
          </a:xfrm>
          <a:prstGeom prst="roundRect">
            <a:avLst>
              <a:gd name="adj" fmla="val 2162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20840" y="1965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8241" y="2113361"/>
            <a:ext cx="272125" cy="2721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0" y="1947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98080" y="22585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HC-SR04, tilt/acceleration from MPU6050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720840" y="3337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241" y="3484961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0" y="3319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498080" y="36301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running a PID controller or an AI inference model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720840" y="47091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241" y="4856561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98080" y="4690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7498080" y="50017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signals to the L298N driver, commanding the DC motors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Components — Sensing &amp;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7785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logic · ~500mA peak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robot's brain. A dual-core 32-bit MCU that runs the control code, reads sensors, and generates PWM. Strictly 3.3V — 5V on a pin can destroy 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28016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600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17785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HC-SR04 Ultrasonic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2788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· ~15mA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17720" y="32004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radar. Emits a 40kHz pulse from Trig and reads the echo on Echo; distance is derived from time of flight. Struggles with soft or angled surfaces.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128016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1600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88" y="17785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MPU6050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12480" y="2788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3.3–5V · I2C (SDA/SCL)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412480" y="32004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+ gyroscope that detects tilt, bumps, and slopes using MEMS capacitance sensing, feeding the control loop extra context.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Components — Drive &amp; Power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7785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L298N Motor Driver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35V, 2A/channel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heavy-duty H-Bridge switch that supplies motor current the ESP32 can't provide directly, and lets current reverse for forward/reverse driving. Drops ~2V from battery to motors.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28016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600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17785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Motors + Gearbox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2788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Lorentz force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17720" y="32004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electrical energy into torque: current through a coil in a magnetic field creates rotational force that turns the wheels.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128016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16002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88" y="17785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Pack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12480" y="2788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18650 Li-Ion, 7.4V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412480" y="32004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whole system. Two 18650 cells in series are recommended over a 9V battery, which lacks the capacity this build needs.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18650 Li-Ion cells in series (3.7V × 2)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C315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7.4V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voltage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C3159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8.4V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788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charged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C315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2500mAh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788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C3159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~3.5 hrs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788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runtime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Draw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~250mA running (stall up to 1.5A)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sensors: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~200mA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average: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~700mA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37947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C3159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0840" y="4069080"/>
            <a:ext cx="548640" cy="548640"/>
          </a:xfrm>
          <a:prstGeom prst="ellipse">
            <a:avLst/>
          </a:prstGeom>
          <a:solidFill>
            <a:srgbClr val="12213E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3486" y="4211726"/>
            <a:ext cx="263347" cy="26334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406640" y="40782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720840" y="46177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a battery holder with a built-in protection circuit (BMS) to prevent discharging the 18650s below 3.0V per cell, which permanently ruins them.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runs an infinite loop — constantly sensing, thinking, and acting.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83080" cy="2148840"/>
          </a:xfrm>
          <a:prstGeom prst="roundRect">
            <a:avLst>
              <a:gd name="adj" fmla="val 5128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29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4871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13432" y="27660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78024" y="1920240"/>
            <a:ext cx="1783080" cy="2148840"/>
          </a:xfrm>
          <a:prstGeom prst="roundRect">
            <a:avLst>
              <a:gd name="adj" fmla="val 5128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15184" y="2029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15184" y="24871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15184" y="28346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ESP32 pins, I2C bus; init MPU6050 &amp; HC-SR04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42816" y="27660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07408" y="1920240"/>
            <a:ext cx="1783080" cy="2148840"/>
          </a:xfrm>
          <a:prstGeom prst="roundRect">
            <a:avLst>
              <a:gd name="adj" fmla="val 5128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44568" y="2029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44568" y="24871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28346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HC-SR04, read Echo, calc distance; read MPU6050 tilt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27660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36792" y="1920240"/>
            <a:ext cx="1783080" cy="2148840"/>
          </a:xfrm>
          <a:prstGeom prst="roundRect">
            <a:avLst>
              <a:gd name="adj" fmla="val 5128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2029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73952" y="24871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73952" y="28346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moving-average filter to smooth distance spikes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01584" y="27660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66176" y="1920240"/>
            <a:ext cx="1783080" cy="2148840"/>
          </a:xfrm>
          <a:prstGeom prst="roundRect">
            <a:avLst>
              <a:gd name="adj" fmla="val 5128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03336" y="2029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03336" y="24871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03336" y="28346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filtered distance to target via PID / 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30968" y="27660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95560" y="1920240"/>
            <a:ext cx="1783080" cy="2148840"/>
          </a:xfrm>
          <a:prstGeom prst="roundRect">
            <a:avLst>
              <a:gd name="adj" fmla="val 5128"/>
            </a:avLst>
          </a:prstGeom>
          <a:solidFill>
            <a:srgbClr val="12213E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332720" y="2029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332720" y="24871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332720" y="283464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PWM signals to the L298N to drive the motors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389120"/>
            <a:ext cx="146304" cy="146304"/>
          </a:xfrm>
          <a:prstGeom prst="ellipse">
            <a:avLst/>
          </a:prstGeom>
          <a:solidFill>
            <a:srgbClr val="0FA3A0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3251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REPEAT — loop back to SENSE, continuously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Control &amp; Filtering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6056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990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 cm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Stop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too close — speed = 0 immediately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2344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6056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3990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cm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72000" y="2148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Distance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0" y="2468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distance — robot matches lead speed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12344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06" y="160568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13990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100 cm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366760" y="2148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Following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366760" y="2468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far — robot cruises at top speed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52044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12213E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Calculation (Time of Flight)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686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= (Speed of Sound × Time) / 2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6868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sound at sea level ≈ 343 m/s (0.0343 cm/µs)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68680" y="5166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sound wave travels to the object and back, so the raw time-of-flight is halved.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172200" y="3520440"/>
            <a:ext cx="5486400" cy="2377440"/>
          </a:xfrm>
          <a:prstGeom prst="roundRect">
            <a:avLst>
              <a:gd name="adj" fmla="val 4615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649224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Average Filter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49224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Filtered = (x₁ + x₂ + ... + xₙ) / n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492240" y="4709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readings occasionally spike to "0" or "400cm" from missed echoes.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492240" y="5166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last 5 readings and averaging them smooths out these erratic jumps.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industry-standard closed-loop control method — calculates an error and outputs a motor speed.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221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u(t) = Kp·e(t)  +  Ki∫e(τ)dτ  +  Kd·de(t)/dt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715768"/>
            <a:ext cx="502920" cy="502920"/>
          </a:xfrm>
          <a:prstGeom prst="ellipse">
            <a:avLst/>
          </a:prstGeom>
          <a:solidFill>
            <a:srgbClr val="12213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7340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 (Kp)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the present error. Far from 30cm → drive fast; close → drive slow. Can cause overshoot on its own.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5146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715768"/>
            <a:ext cx="502920" cy="502920"/>
          </a:xfrm>
          <a:prstGeom prst="ellipse">
            <a:avLst/>
          </a:prstGeom>
          <a:solidFill>
            <a:srgbClr val="12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27340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Integral (Ki)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3375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past error, summing steady-state error over time to nudge the robot if it stalls just short of target.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5146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2715768"/>
            <a:ext cx="502920" cy="502920"/>
          </a:xfrm>
          <a:prstGeom prst="ellipse">
            <a:avLst/>
          </a:prstGeom>
          <a:solidFill>
            <a:srgbClr val="12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6840" y="27340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 (Kd)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33375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future error from the rate of change of distance, acting as a brake to prevent overshoot.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by trial and error: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Ki and Kd to 0; raise Kp until the robot oscillates around the safe distance.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Kd to dampen the oscillation so it settles smoothly.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Ki slightly if the robot stops just short of the target.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Machine Learning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classical PID, ML can map sensor inputs directly to motor outputs.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1C315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221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013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1: Edge Impulse Classification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ultrasonic + MPU accelerometer arrays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Close", "Safe Distance", "Too Far"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an Arduino library; ESP32 runs inference and sets motor speed from the winning class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1C3159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783080"/>
            <a:ext cx="548640" cy="548640"/>
          </a:xfrm>
          <a:prstGeom prst="ellipse">
            <a:avLst/>
          </a:prstGeom>
          <a:solidFill>
            <a:srgbClr val="1221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86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01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2: Regression Model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92240" y="24231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discrete buckets, regression predicts a continuous PWM speed (0–255) from features like current distance and rate of change of distance.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492240" y="36118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0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smoother speed transitions than classification, which tends to produce jerky, stepped changes.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983480"/>
            <a:ext cx="11109960" cy="1234440"/>
          </a:xfrm>
          <a:prstGeom prst="roundRect">
            <a:avLst>
              <a:gd name="adj" fmla="val 8889"/>
            </a:avLst>
          </a:prstGeom>
          <a:solidFill>
            <a:srgbClr val="F4A340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5193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31266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5193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463040" y="54864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beginner, PID is the standard and most educational approach. If you do use AI, prefer Regression — Classification tends to cause jerky, stepped speed changes.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&amp;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Calibration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HC-SR04: </a:t>
            </a:r>
            <a:endParaRPr lang="en-US" sz="11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 object exactly 20cm away with a ruler. Adjust the 0.034 multiplier in code until the Serial Monitor reads exactly 20cm.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MPU6050: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robot on a flat surface. Raw X, Y, Z should read 0, 0, 1g — the deviations are your offsets to subtract in software.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Checklist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4805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Bench-test sensors: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motors connected — wave a hand in front of the sensor and confirm distance changes on the Serial Monitor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1663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Bench-test motors: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wheels off the ground, force analogWrite(enA, 255) — both should spin forward; swap L298N wiring if one runs backward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floor, walk in front of it — does it follow, and stop when you stop?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143000"/>
            <a:ext cx="5486400" cy="5349240"/>
          </a:xfrm>
          <a:prstGeom prst="roundRect">
            <a:avLst>
              <a:gd name="adj" fmla="val 2051"/>
            </a:avLst>
          </a:prstGeom>
          <a:solidFill>
            <a:srgbClr val="12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1417320"/>
            <a:ext cx="502920" cy="502920"/>
          </a:xfrm>
          <a:prstGeom prst="ellipse">
            <a:avLst/>
          </a:prstGeom>
          <a:solidFill>
            <a:srgbClr val="0FA3A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2999" y="1548079"/>
            <a:ext cx="241402" cy="24140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178040" y="14813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21031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combine sensors and motors on the first power-up. Validate each subsystem in isolation, then integrate one piece at a time.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922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A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operations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92240" y="36576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HC-SR04 distance reading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the MPU6050 offsets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Bench-test sensors alone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Bench-test motors alone (wheels raised)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test on the floor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448056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480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E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randomly resets/reboots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drop from motors starting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ESP32 from a separate buck converter, or add a large capacitor across the power rails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stutters / shakes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 Kp is too high (overshoot)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Decrease Kp; increase Kd slightly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Motors hum but don't spin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speed is below the motor's deadband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minimum baseline speed in code (e.g. if speed &gt; 0, speed += 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reads 0cm randomly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echo timed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a software filter to ignore 0 readings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base robot works, consider these engineering upgrades: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Encoders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loop is currently "open-loop" for the motors — we guess that a PWM of 150 equals a certain speed. Wheel encoders measure actual wheel RPM, enabling a cascaded PID loop: the distance PID outputs a target RPM, and a speed PID achieves 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1F5FA"/>
          </a:solidFill>
          <a:ln/>
          <a:effectLst>
            <a:outerShdw sx="100000" sy="100000" kx="0" ky="0" algn="bl" rotWithShape="0" blurRad="101600" dist="38100" dir="5400000">
              <a:srgbClr val="1221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19952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2606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Fusion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30175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HC-SR04 distance with MPU6050 accelerometer data using a Kalman Filter to predict where the lead vehicle is, even when the ultrasonic sensor temporarily misses a ping.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Deliverables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this guide, you now have: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C315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92" y="1791492"/>
            <a:ext cx="184343" cy="184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916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architectural overview of an ACC system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1C315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92" y="2340132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2402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pin mapping and wiring strategy for voltage compatibility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1C315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2888772"/>
            <a:ext cx="184343" cy="1843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7889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workflow and flowchart logic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1C3159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92" y="3437412"/>
            <a:ext cx="184343" cy="18434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3375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foundation of PID control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1C3159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92" y="3986052"/>
            <a:ext cx="184343" cy="18434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8862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starter codebase demonstrating proportional control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1C3159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92" y="4534692"/>
            <a:ext cx="184343" cy="18434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97280" y="44348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calibration, and troubleshooting protocols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548640" y="553212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1C3159"/>
          </a:solidFill>
          <a:ln/>
        </p:spPr>
      </p:sp>
      <p:sp>
        <p:nvSpPr>
          <p:cNvPr id="23" name="Text 15"/>
          <p:cNvSpPr/>
          <p:nvPr/>
        </p:nvSpPr>
        <p:spPr>
          <a:xfrm>
            <a:off x="822960" y="553212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time with the wiring, build the circuit incrementally, and test each component alone before combining them into the final control loop. Good luck with your build!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Cruise Control Robot</dc:title>
  <dc:subject>PptxGenJS Presentation</dc:subject>
  <dc:creator>Claude</dc:creator>
  <cp:lastModifiedBy>Claude</cp:lastModifiedBy>
  <cp:revision>1</cp:revision>
  <dcterms:created xsi:type="dcterms:W3CDTF">2026-07-01T23:48:11Z</dcterms:created>
  <dcterms:modified xsi:type="dcterms:W3CDTF">2026-07-01T23:48:11Z</dcterms:modified>
</cp:coreProperties>
</file>